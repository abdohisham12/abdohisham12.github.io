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nva Sans" panose="020B0604020202020204" charset="0"/>
      <p:regular r:id="rId12"/>
    </p:embeddedFont>
    <p:embeddedFont>
      <p:font typeface="Canva Sans Bold" panose="020B0604020202020204" charset="0"/>
      <p:regular r:id="rId13"/>
    </p:embeddedFont>
    <p:embeddedFont>
      <p:font typeface="HK Grotesk" panose="020B0604020202020204" charset="0"/>
      <p:regular r:id="rId14"/>
    </p:embeddedFont>
    <p:embeddedFont>
      <p:font typeface="Inter" panose="020B0604020202020204" charset="0"/>
      <p:regular r:id="rId15"/>
    </p:embeddedFont>
    <p:embeddedFont>
      <p:font typeface="Poppins Bold" panose="020B0604020202020204" charset="0"/>
      <p:regular r:id="rId16"/>
    </p:embeddedFont>
    <p:embeddedFont>
      <p:font typeface="TT Fors" panose="020B0604020202020204" charset="0"/>
      <p:regular r:id="rId17"/>
    </p:embeddedFont>
    <p:embeddedFont>
      <p:font typeface="TT Fors Bold" panose="020B0604020202020204" charset="0"/>
      <p:regular r:id="rId18"/>
    </p:embeddedFont>
    <p:embeddedFont>
      <p:font typeface="Wide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6127" y="590601"/>
            <a:ext cx="17155746" cy="9105799"/>
            <a:chOff x="0" y="0"/>
            <a:chExt cx="4518386" cy="2398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8386" cy="2398235"/>
            </a:xfrm>
            <a:custGeom>
              <a:avLst/>
              <a:gdLst/>
              <a:ahLst/>
              <a:cxnLst/>
              <a:rect l="l" t="t" r="r" b="b"/>
              <a:pathLst>
                <a:path w="4518386" h="2398235">
                  <a:moveTo>
                    <a:pt x="17148" y="0"/>
                  </a:moveTo>
                  <a:lnTo>
                    <a:pt x="4501238" y="0"/>
                  </a:lnTo>
                  <a:cubicBezTo>
                    <a:pt x="4505785" y="0"/>
                    <a:pt x="4510147" y="1807"/>
                    <a:pt x="4513363" y="5023"/>
                  </a:cubicBezTo>
                  <a:cubicBezTo>
                    <a:pt x="4516579" y="8239"/>
                    <a:pt x="4518386" y="12600"/>
                    <a:pt x="4518386" y="17148"/>
                  </a:cubicBezTo>
                  <a:lnTo>
                    <a:pt x="4518386" y="2381087"/>
                  </a:lnTo>
                  <a:cubicBezTo>
                    <a:pt x="4518386" y="2385635"/>
                    <a:pt x="4516579" y="2389996"/>
                    <a:pt x="4513363" y="2393212"/>
                  </a:cubicBezTo>
                  <a:cubicBezTo>
                    <a:pt x="4510147" y="2396428"/>
                    <a:pt x="4505785" y="2398235"/>
                    <a:pt x="4501238" y="2398235"/>
                  </a:cubicBezTo>
                  <a:lnTo>
                    <a:pt x="17148" y="2398235"/>
                  </a:lnTo>
                  <a:cubicBezTo>
                    <a:pt x="12600" y="2398235"/>
                    <a:pt x="8239" y="2396428"/>
                    <a:pt x="5023" y="2393212"/>
                  </a:cubicBezTo>
                  <a:cubicBezTo>
                    <a:pt x="1807" y="2389996"/>
                    <a:pt x="0" y="2385635"/>
                    <a:pt x="0" y="2381087"/>
                  </a:cubicBezTo>
                  <a:lnTo>
                    <a:pt x="0" y="17148"/>
                  </a:lnTo>
                  <a:cubicBezTo>
                    <a:pt x="0" y="12600"/>
                    <a:pt x="1807" y="8239"/>
                    <a:pt x="5023" y="5023"/>
                  </a:cubicBezTo>
                  <a:cubicBezTo>
                    <a:pt x="8239" y="1807"/>
                    <a:pt x="12600" y="0"/>
                    <a:pt x="17148" y="0"/>
                  </a:cubicBezTo>
                  <a:close/>
                </a:path>
              </a:pathLst>
            </a:custGeom>
            <a:solidFill>
              <a:srgbClr val="000000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18386" cy="243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36873" y="4659801"/>
            <a:ext cx="15169206" cy="1034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2"/>
              </a:lnSpc>
            </a:pPr>
            <a:r>
              <a:rPr lang="en-US" sz="7266">
                <a:solidFill>
                  <a:srgbClr val="FFFFFF"/>
                </a:solidFill>
                <a:latin typeface="Wide"/>
                <a:ea typeface="Wide"/>
                <a:cs typeface="Wide"/>
                <a:sym typeface="Wide"/>
              </a:rPr>
              <a:t>Aydnflow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57313" y="3593912"/>
            <a:ext cx="717337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AydnLabs Presents</a:t>
            </a:r>
          </a:p>
        </p:txBody>
      </p:sp>
      <p:sp>
        <p:nvSpPr>
          <p:cNvPr id="7" name="Freeform 7"/>
          <p:cNvSpPr/>
          <p:nvPr/>
        </p:nvSpPr>
        <p:spPr>
          <a:xfrm flipV="1">
            <a:off x="3265186" y="5291182"/>
            <a:ext cx="3779178" cy="2235855"/>
          </a:xfrm>
          <a:custGeom>
            <a:avLst/>
            <a:gdLst/>
            <a:ahLst/>
            <a:cxnLst/>
            <a:rect l="l" t="t" r="r" b="b"/>
            <a:pathLst>
              <a:path w="3779178" h="2235855">
                <a:moveTo>
                  <a:pt x="0" y="2235855"/>
                </a:moveTo>
                <a:lnTo>
                  <a:pt x="3779178" y="2235855"/>
                </a:lnTo>
                <a:lnTo>
                  <a:pt x="3779178" y="0"/>
                </a:lnTo>
                <a:lnTo>
                  <a:pt x="0" y="0"/>
                </a:lnTo>
                <a:lnTo>
                  <a:pt x="0" y="223585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11302812" y="3305461"/>
            <a:ext cx="3779178" cy="2235855"/>
          </a:xfrm>
          <a:custGeom>
            <a:avLst/>
            <a:gdLst/>
            <a:ahLst/>
            <a:cxnLst/>
            <a:rect l="l" t="t" r="r" b="b"/>
            <a:pathLst>
              <a:path w="3779178" h="2235855">
                <a:moveTo>
                  <a:pt x="3779178" y="0"/>
                </a:moveTo>
                <a:lnTo>
                  <a:pt x="0" y="0"/>
                </a:lnTo>
                <a:lnTo>
                  <a:pt x="0" y="2235856"/>
                </a:lnTo>
                <a:lnTo>
                  <a:pt x="3779178" y="2235856"/>
                </a:lnTo>
                <a:lnTo>
                  <a:pt x="377917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41032" y="563129"/>
            <a:ext cx="2222611" cy="2996921"/>
          </a:xfrm>
          <a:custGeom>
            <a:avLst/>
            <a:gdLst/>
            <a:ahLst/>
            <a:cxnLst/>
            <a:rect l="l" t="t" r="r" b="b"/>
            <a:pathLst>
              <a:path w="2222611" h="2996921">
                <a:moveTo>
                  <a:pt x="0" y="0"/>
                </a:moveTo>
                <a:lnTo>
                  <a:pt x="2222611" y="0"/>
                </a:lnTo>
                <a:lnTo>
                  <a:pt x="2222611" y="2996921"/>
                </a:lnTo>
                <a:lnTo>
                  <a:pt x="0" y="2996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10800000">
            <a:off x="15499262" y="625390"/>
            <a:ext cx="2222611" cy="2996921"/>
          </a:xfrm>
          <a:custGeom>
            <a:avLst/>
            <a:gdLst/>
            <a:ahLst/>
            <a:cxnLst/>
            <a:rect l="l" t="t" r="r" b="b"/>
            <a:pathLst>
              <a:path w="2222611" h="2996921">
                <a:moveTo>
                  <a:pt x="0" y="0"/>
                </a:moveTo>
                <a:lnTo>
                  <a:pt x="2222611" y="0"/>
                </a:lnTo>
                <a:lnTo>
                  <a:pt x="2222611" y="2996921"/>
                </a:lnTo>
                <a:lnTo>
                  <a:pt x="0" y="29969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239700" y="554131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7195424" y="137908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727123" y="1020329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544634" y="1683915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265186" y="309288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0850672" y="863373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3239387" y="990982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625050" y="8406081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787559" y="8451990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5379148" y="408916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3899506" y="5893770"/>
            <a:ext cx="10488988" cy="88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332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Empowering businesses in the MENA Region with autonomous, native AI agents for Sales &amp; Support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6127" y="590601"/>
            <a:ext cx="17155746" cy="9105799"/>
            <a:chOff x="0" y="0"/>
            <a:chExt cx="4518386" cy="2398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8386" cy="2398235"/>
            </a:xfrm>
            <a:custGeom>
              <a:avLst/>
              <a:gdLst/>
              <a:ahLst/>
              <a:cxnLst/>
              <a:rect l="l" t="t" r="r" b="b"/>
              <a:pathLst>
                <a:path w="4518386" h="2398235">
                  <a:moveTo>
                    <a:pt x="17148" y="0"/>
                  </a:moveTo>
                  <a:lnTo>
                    <a:pt x="4501238" y="0"/>
                  </a:lnTo>
                  <a:cubicBezTo>
                    <a:pt x="4505785" y="0"/>
                    <a:pt x="4510147" y="1807"/>
                    <a:pt x="4513363" y="5023"/>
                  </a:cubicBezTo>
                  <a:cubicBezTo>
                    <a:pt x="4516579" y="8239"/>
                    <a:pt x="4518386" y="12600"/>
                    <a:pt x="4518386" y="17148"/>
                  </a:cubicBezTo>
                  <a:lnTo>
                    <a:pt x="4518386" y="2381087"/>
                  </a:lnTo>
                  <a:cubicBezTo>
                    <a:pt x="4518386" y="2385635"/>
                    <a:pt x="4516579" y="2389996"/>
                    <a:pt x="4513363" y="2393212"/>
                  </a:cubicBezTo>
                  <a:cubicBezTo>
                    <a:pt x="4510147" y="2396428"/>
                    <a:pt x="4505785" y="2398235"/>
                    <a:pt x="4501238" y="2398235"/>
                  </a:cubicBezTo>
                  <a:lnTo>
                    <a:pt x="17148" y="2398235"/>
                  </a:lnTo>
                  <a:cubicBezTo>
                    <a:pt x="12600" y="2398235"/>
                    <a:pt x="8239" y="2396428"/>
                    <a:pt x="5023" y="2393212"/>
                  </a:cubicBezTo>
                  <a:cubicBezTo>
                    <a:pt x="1807" y="2389996"/>
                    <a:pt x="0" y="2385635"/>
                    <a:pt x="0" y="2381087"/>
                  </a:cubicBezTo>
                  <a:lnTo>
                    <a:pt x="0" y="17148"/>
                  </a:lnTo>
                  <a:cubicBezTo>
                    <a:pt x="0" y="12600"/>
                    <a:pt x="1807" y="8239"/>
                    <a:pt x="5023" y="5023"/>
                  </a:cubicBezTo>
                  <a:cubicBezTo>
                    <a:pt x="8239" y="1807"/>
                    <a:pt x="12600" y="0"/>
                    <a:pt x="17148" y="0"/>
                  </a:cubicBezTo>
                  <a:close/>
                </a:path>
              </a:pathLst>
            </a:custGeom>
            <a:solidFill>
              <a:srgbClr val="000000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18386" cy="243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41032" y="563129"/>
            <a:ext cx="2222611" cy="2996921"/>
          </a:xfrm>
          <a:custGeom>
            <a:avLst/>
            <a:gdLst/>
            <a:ahLst/>
            <a:cxnLst/>
            <a:rect l="l" t="t" r="r" b="b"/>
            <a:pathLst>
              <a:path w="2222611" h="2996921">
                <a:moveTo>
                  <a:pt x="0" y="0"/>
                </a:moveTo>
                <a:lnTo>
                  <a:pt x="2222611" y="0"/>
                </a:lnTo>
                <a:lnTo>
                  <a:pt x="2222611" y="2996921"/>
                </a:lnTo>
                <a:lnTo>
                  <a:pt x="0" y="2996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239700" y="554131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95424" y="137908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727123" y="1020329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544634" y="1683915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265186" y="309288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227937" y="8868018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3239387" y="990982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2625050" y="8406081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787559" y="8451990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5379148" y="408916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028700" y="4793099"/>
            <a:ext cx="4895052" cy="1496436"/>
            <a:chOff x="0" y="0"/>
            <a:chExt cx="6526736" cy="1995248"/>
          </a:xfrm>
        </p:grpSpPr>
        <p:grpSp>
          <p:nvGrpSpPr>
            <p:cNvPr id="17" name="Group 17"/>
            <p:cNvGrpSpPr>
              <a:grpSpLocks noChangeAspect="1"/>
            </p:cNvGrpSpPr>
            <p:nvPr/>
          </p:nvGrpSpPr>
          <p:grpSpPr>
            <a:xfrm>
              <a:off x="0" y="0"/>
              <a:ext cx="1995248" cy="1995248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9939" y="19939"/>
                <a:ext cx="6310122" cy="6310122"/>
              </a:xfrm>
              <a:custGeom>
                <a:avLst/>
                <a:gdLst/>
                <a:ahLst/>
                <a:cxnLst/>
                <a:rect l="l" t="t" r="r" b="b"/>
                <a:pathLst>
                  <a:path w="6310122" h="6310122">
                    <a:moveTo>
                      <a:pt x="6310122" y="3155061"/>
                    </a:moveTo>
                    <a:cubicBezTo>
                      <a:pt x="6310122" y="4897501"/>
                      <a:pt x="4897501" y="6310122"/>
                      <a:pt x="3155061" y="6310122"/>
                    </a:cubicBezTo>
                    <a:cubicBezTo>
                      <a:pt x="1412621" y="6310122"/>
                      <a:pt x="0" y="4897501"/>
                      <a:pt x="0" y="3155061"/>
                    </a:cubicBezTo>
                    <a:cubicBezTo>
                      <a:pt x="0" y="1412621"/>
                      <a:pt x="1412621" y="0"/>
                      <a:pt x="3155061" y="0"/>
                    </a:cubicBezTo>
                    <a:cubicBezTo>
                      <a:pt x="4897501" y="0"/>
                      <a:pt x="6310122" y="1412621"/>
                      <a:pt x="6310122" y="3155061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51484" r="-45115"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6350000" y="3175000"/>
                    </a:moveTo>
                    <a:cubicBezTo>
                      <a:pt x="6350000" y="4925822"/>
                      <a:pt x="4925822" y="6350000"/>
                      <a:pt x="3175000" y="6350000"/>
                    </a:cubicBezTo>
                    <a:cubicBezTo>
                      <a:pt x="1424178" y="6350000"/>
                      <a:pt x="0" y="4925822"/>
                      <a:pt x="0" y="3175000"/>
                    </a:cubicBezTo>
                    <a:cubicBezTo>
                      <a:pt x="0" y="1424178"/>
                      <a:pt x="1424178" y="0"/>
                      <a:pt x="3175000" y="0"/>
                    </a:cubicBezTo>
                    <a:cubicBezTo>
                      <a:pt x="4925822" y="0"/>
                      <a:pt x="6350000" y="1424178"/>
                      <a:pt x="6350000" y="317500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325448" y="272459"/>
              <a:ext cx="4201289" cy="12707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914"/>
                </a:lnSpc>
                <a:spcBef>
                  <a:spcPct val="0"/>
                </a:spcBef>
              </a:pPr>
              <a:r>
                <a:rPr lang="en-US" sz="2796">
                  <a:solidFill>
                    <a:srgbClr val="FAF9F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Marc Benioff</a:t>
              </a:r>
            </a:p>
            <a:p>
              <a:pPr algn="ctr">
                <a:lnSpc>
                  <a:spcPts val="3914"/>
                </a:lnSpc>
                <a:spcBef>
                  <a:spcPct val="0"/>
                </a:spcBef>
              </a:pPr>
              <a:r>
                <a:rPr lang="en-US" sz="2796">
                  <a:solidFill>
                    <a:srgbClr val="FAF9F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CEO of Salesforce </a:t>
              </a:r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4156828" y="1663286"/>
            <a:ext cx="3348922" cy="6742795"/>
            <a:chOff x="0" y="0"/>
            <a:chExt cx="9461500" cy="19050000"/>
          </a:xfrm>
        </p:grpSpPr>
        <p:sp>
          <p:nvSpPr>
            <p:cNvPr id="22" name="Freeform 22"/>
            <p:cNvSpPr/>
            <p:nvPr/>
          </p:nvSpPr>
          <p:spPr>
            <a:xfrm>
              <a:off x="400304" y="312801"/>
              <a:ext cx="8650859" cy="18424398"/>
            </a:xfrm>
            <a:custGeom>
              <a:avLst/>
              <a:gdLst/>
              <a:ahLst/>
              <a:cxnLst/>
              <a:rect l="l" t="t" r="r" b="b"/>
              <a:pathLst>
                <a:path w="8650859" h="18424398">
                  <a:moveTo>
                    <a:pt x="7532370" y="18424398"/>
                  </a:moveTo>
                  <a:lnTo>
                    <a:pt x="1118489" y="18424398"/>
                  </a:lnTo>
                  <a:cubicBezTo>
                    <a:pt x="500761" y="18424398"/>
                    <a:pt x="0" y="17923636"/>
                    <a:pt x="0" y="17305910"/>
                  </a:cubicBezTo>
                  <a:lnTo>
                    <a:pt x="0" y="1118489"/>
                  </a:lnTo>
                  <a:cubicBezTo>
                    <a:pt x="0" y="500761"/>
                    <a:pt x="500761" y="0"/>
                    <a:pt x="1118489" y="0"/>
                  </a:cubicBezTo>
                  <a:lnTo>
                    <a:pt x="7532370" y="0"/>
                  </a:lnTo>
                  <a:cubicBezTo>
                    <a:pt x="8150098" y="0"/>
                    <a:pt x="8650859" y="500761"/>
                    <a:pt x="8650859" y="1118489"/>
                  </a:cubicBezTo>
                  <a:lnTo>
                    <a:pt x="8650859" y="17305910"/>
                  </a:lnTo>
                  <a:cubicBezTo>
                    <a:pt x="8650732" y="17923636"/>
                    <a:pt x="8150098" y="18424398"/>
                    <a:pt x="7532370" y="18424398"/>
                  </a:cubicBezTo>
                  <a:close/>
                </a:path>
              </a:pathLst>
            </a:custGeom>
            <a:blipFill>
              <a:blip r:embed="rId5"/>
              <a:stretch>
                <a:fillRect l="-1647" r="-16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0" y="0"/>
              <a:ext cx="9461500" cy="19050000"/>
            </a:xfrm>
            <a:custGeom>
              <a:avLst/>
              <a:gdLst/>
              <a:ahLst/>
              <a:cxnLst/>
              <a:rect l="l" t="t" r="r" b="b"/>
              <a:pathLst>
                <a:path w="9461500" h="19050000">
                  <a:moveTo>
                    <a:pt x="94615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461500" y="0"/>
                  </a:lnTo>
                  <a:lnTo>
                    <a:pt x="9461500" y="19050000"/>
                  </a:lnTo>
                  <a:close/>
                </a:path>
              </a:pathLst>
            </a:custGeom>
            <a:blipFill>
              <a:blip r:embed="rId6"/>
              <a:stretch>
                <a:fillRect l="-83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6565760"/>
            <a:ext cx="12541805" cy="1384682"/>
            <a:chOff x="0" y="0"/>
            <a:chExt cx="3303191" cy="36469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303191" cy="364690"/>
            </a:xfrm>
            <a:custGeom>
              <a:avLst/>
              <a:gdLst/>
              <a:ahLst/>
              <a:cxnLst/>
              <a:rect l="l" t="t" r="r" b="b"/>
              <a:pathLst>
                <a:path w="3303191" h="364690">
                  <a:moveTo>
                    <a:pt x="0" y="0"/>
                  </a:moveTo>
                  <a:lnTo>
                    <a:pt x="3303191" y="0"/>
                  </a:lnTo>
                  <a:lnTo>
                    <a:pt x="3303191" y="364690"/>
                  </a:lnTo>
                  <a:lnTo>
                    <a:pt x="0" y="364690"/>
                  </a:lnTo>
                  <a:close/>
                </a:path>
              </a:pathLst>
            </a:custGeom>
            <a:solidFill>
              <a:srgbClr val="DDDA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3303191" cy="412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“Thousands… hundreds of thousands of leads have never been called back. In the agentic world, there’s no excuse for that. Every lead can be followed up on.”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556379" y="540325"/>
            <a:ext cx="14958230" cy="871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63"/>
              </a:lnSpc>
              <a:spcBef>
                <a:spcPct val="0"/>
              </a:spcBef>
            </a:pPr>
            <a:r>
              <a:rPr lang="en-US" sz="504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High Cost of Human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6127" y="590601"/>
            <a:ext cx="17155746" cy="9105799"/>
            <a:chOff x="0" y="0"/>
            <a:chExt cx="4518386" cy="2398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8386" cy="2398235"/>
            </a:xfrm>
            <a:custGeom>
              <a:avLst/>
              <a:gdLst/>
              <a:ahLst/>
              <a:cxnLst/>
              <a:rect l="l" t="t" r="r" b="b"/>
              <a:pathLst>
                <a:path w="4518386" h="2398235">
                  <a:moveTo>
                    <a:pt x="17148" y="0"/>
                  </a:moveTo>
                  <a:lnTo>
                    <a:pt x="4501238" y="0"/>
                  </a:lnTo>
                  <a:cubicBezTo>
                    <a:pt x="4505785" y="0"/>
                    <a:pt x="4510147" y="1807"/>
                    <a:pt x="4513363" y="5023"/>
                  </a:cubicBezTo>
                  <a:cubicBezTo>
                    <a:pt x="4516579" y="8239"/>
                    <a:pt x="4518386" y="12600"/>
                    <a:pt x="4518386" y="17148"/>
                  </a:cubicBezTo>
                  <a:lnTo>
                    <a:pt x="4518386" y="2381087"/>
                  </a:lnTo>
                  <a:cubicBezTo>
                    <a:pt x="4518386" y="2385635"/>
                    <a:pt x="4516579" y="2389996"/>
                    <a:pt x="4513363" y="2393212"/>
                  </a:cubicBezTo>
                  <a:cubicBezTo>
                    <a:pt x="4510147" y="2396428"/>
                    <a:pt x="4505785" y="2398235"/>
                    <a:pt x="4501238" y="2398235"/>
                  </a:cubicBezTo>
                  <a:lnTo>
                    <a:pt x="17148" y="2398235"/>
                  </a:lnTo>
                  <a:cubicBezTo>
                    <a:pt x="12600" y="2398235"/>
                    <a:pt x="8239" y="2396428"/>
                    <a:pt x="5023" y="2393212"/>
                  </a:cubicBezTo>
                  <a:cubicBezTo>
                    <a:pt x="1807" y="2389996"/>
                    <a:pt x="0" y="2385635"/>
                    <a:pt x="0" y="2381087"/>
                  </a:cubicBezTo>
                  <a:lnTo>
                    <a:pt x="0" y="17148"/>
                  </a:lnTo>
                  <a:cubicBezTo>
                    <a:pt x="0" y="12600"/>
                    <a:pt x="1807" y="8239"/>
                    <a:pt x="5023" y="5023"/>
                  </a:cubicBezTo>
                  <a:cubicBezTo>
                    <a:pt x="8239" y="1807"/>
                    <a:pt x="12600" y="0"/>
                    <a:pt x="17148" y="0"/>
                  </a:cubicBezTo>
                  <a:close/>
                </a:path>
              </a:pathLst>
            </a:custGeom>
            <a:solidFill>
              <a:srgbClr val="000000"/>
            </a:solidFill>
            <a:ln w="66675" cap="rnd">
              <a:solidFill>
                <a:srgbClr val="000000"/>
              </a:solidFill>
              <a:prstDash val="sysDot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18386" cy="243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41032" y="563129"/>
            <a:ext cx="1472597" cy="1985619"/>
          </a:xfrm>
          <a:custGeom>
            <a:avLst/>
            <a:gdLst/>
            <a:ahLst/>
            <a:cxnLst/>
            <a:rect l="l" t="t" r="r" b="b"/>
            <a:pathLst>
              <a:path w="1472597" h="1985619">
                <a:moveTo>
                  <a:pt x="0" y="0"/>
                </a:moveTo>
                <a:lnTo>
                  <a:pt x="1472597" y="0"/>
                </a:lnTo>
                <a:lnTo>
                  <a:pt x="1472597" y="1985619"/>
                </a:lnTo>
                <a:lnTo>
                  <a:pt x="0" y="1985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16295450" y="625390"/>
            <a:ext cx="1426423" cy="1923358"/>
          </a:xfrm>
          <a:custGeom>
            <a:avLst/>
            <a:gdLst/>
            <a:ahLst/>
            <a:cxnLst/>
            <a:rect l="l" t="t" r="r" b="b"/>
            <a:pathLst>
              <a:path w="1426423" h="1923358">
                <a:moveTo>
                  <a:pt x="0" y="0"/>
                </a:moveTo>
                <a:lnTo>
                  <a:pt x="1426423" y="0"/>
                </a:lnTo>
                <a:lnTo>
                  <a:pt x="1426423" y="1923358"/>
                </a:lnTo>
                <a:lnTo>
                  <a:pt x="0" y="19233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239700" y="554131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195424" y="137908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727123" y="1020329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544634" y="1683915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8691859" y="554131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850672" y="863373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8418308" y="3432229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274982" y="3784335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6680700" y="5143500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5379148" y="408916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4829303" y="3544205"/>
            <a:ext cx="3348922" cy="6742795"/>
            <a:chOff x="0" y="0"/>
            <a:chExt cx="9461500" cy="19050000"/>
          </a:xfrm>
        </p:grpSpPr>
        <p:sp>
          <p:nvSpPr>
            <p:cNvPr id="18" name="Freeform 18"/>
            <p:cNvSpPr/>
            <p:nvPr/>
          </p:nvSpPr>
          <p:spPr>
            <a:xfrm>
              <a:off x="400304" y="312801"/>
              <a:ext cx="8650859" cy="18424398"/>
            </a:xfrm>
            <a:custGeom>
              <a:avLst/>
              <a:gdLst/>
              <a:ahLst/>
              <a:cxnLst/>
              <a:rect l="l" t="t" r="r" b="b"/>
              <a:pathLst>
                <a:path w="8650859" h="18424398">
                  <a:moveTo>
                    <a:pt x="7532370" y="18424398"/>
                  </a:moveTo>
                  <a:lnTo>
                    <a:pt x="1118489" y="18424398"/>
                  </a:lnTo>
                  <a:cubicBezTo>
                    <a:pt x="500761" y="18424398"/>
                    <a:pt x="0" y="17923636"/>
                    <a:pt x="0" y="17305910"/>
                  </a:cubicBezTo>
                  <a:lnTo>
                    <a:pt x="0" y="1118489"/>
                  </a:lnTo>
                  <a:cubicBezTo>
                    <a:pt x="0" y="500761"/>
                    <a:pt x="500761" y="0"/>
                    <a:pt x="1118489" y="0"/>
                  </a:cubicBezTo>
                  <a:lnTo>
                    <a:pt x="7532370" y="0"/>
                  </a:lnTo>
                  <a:cubicBezTo>
                    <a:pt x="8150098" y="0"/>
                    <a:pt x="8650859" y="500761"/>
                    <a:pt x="8650859" y="1118489"/>
                  </a:cubicBezTo>
                  <a:lnTo>
                    <a:pt x="8650859" y="17305910"/>
                  </a:lnTo>
                  <a:cubicBezTo>
                    <a:pt x="8650732" y="17923636"/>
                    <a:pt x="8150098" y="18424398"/>
                    <a:pt x="7532370" y="18424398"/>
                  </a:cubicBezTo>
                  <a:close/>
                </a:path>
              </a:pathLst>
            </a:custGeom>
            <a:blipFill>
              <a:blip r:embed="rId3"/>
              <a:stretch>
                <a:fillRect l="-1647" r="-1647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0" y="0"/>
              <a:ext cx="9461500" cy="19050000"/>
            </a:xfrm>
            <a:custGeom>
              <a:avLst/>
              <a:gdLst/>
              <a:ahLst/>
              <a:cxnLst/>
              <a:rect l="l" t="t" r="r" b="b"/>
              <a:pathLst>
                <a:path w="9461500" h="19050000">
                  <a:moveTo>
                    <a:pt x="94615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461500" y="0"/>
                  </a:lnTo>
                  <a:lnTo>
                    <a:pt x="9461500" y="19050000"/>
                  </a:lnTo>
                  <a:close/>
                </a:path>
              </a:pathLst>
            </a:custGeom>
            <a:blipFill>
              <a:blip r:embed="rId4"/>
              <a:stretch>
                <a:fillRect l="-83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9502199" y="3544205"/>
            <a:ext cx="3348922" cy="6742795"/>
            <a:chOff x="0" y="0"/>
            <a:chExt cx="9461500" cy="19050000"/>
          </a:xfrm>
        </p:grpSpPr>
        <p:sp>
          <p:nvSpPr>
            <p:cNvPr id="21" name="Freeform 21"/>
            <p:cNvSpPr/>
            <p:nvPr/>
          </p:nvSpPr>
          <p:spPr>
            <a:xfrm>
              <a:off x="400304" y="312801"/>
              <a:ext cx="8650859" cy="18424398"/>
            </a:xfrm>
            <a:custGeom>
              <a:avLst/>
              <a:gdLst/>
              <a:ahLst/>
              <a:cxnLst/>
              <a:rect l="l" t="t" r="r" b="b"/>
              <a:pathLst>
                <a:path w="8650859" h="18424398">
                  <a:moveTo>
                    <a:pt x="7532370" y="18424398"/>
                  </a:moveTo>
                  <a:lnTo>
                    <a:pt x="1118489" y="18424398"/>
                  </a:lnTo>
                  <a:cubicBezTo>
                    <a:pt x="500761" y="18424398"/>
                    <a:pt x="0" y="17923636"/>
                    <a:pt x="0" y="17305910"/>
                  </a:cubicBezTo>
                  <a:lnTo>
                    <a:pt x="0" y="1118489"/>
                  </a:lnTo>
                  <a:cubicBezTo>
                    <a:pt x="0" y="500761"/>
                    <a:pt x="500761" y="0"/>
                    <a:pt x="1118489" y="0"/>
                  </a:cubicBezTo>
                  <a:lnTo>
                    <a:pt x="7532370" y="0"/>
                  </a:lnTo>
                  <a:cubicBezTo>
                    <a:pt x="8150098" y="0"/>
                    <a:pt x="8650859" y="500761"/>
                    <a:pt x="8650859" y="1118489"/>
                  </a:cubicBezTo>
                  <a:lnTo>
                    <a:pt x="8650859" y="17305910"/>
                  </a:lnTo>
                  <a:cubicBezTo>
                    <a:pt x="8650732" y="17923636"/>
                    <a:pt x="8150098" y="18424398"/>
                    <a:pt x="7532370" y="18424398"/>
                  </a:cubicBezTo>
                  <a:close/>
                </a:path>
              </a:pathLst>
            </a:custGeom>
            <a:blipFill>
              <a:blip r:embed="rId5"/>
              <a:stretch>
                <a:fillRect t="-8300" b="-8300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9461500" cy="19050000"/>
            </a:xfrm>
            <a:custGeom>
              <a:avLst/>
              <a:gdLst/>
              <a:ahLst/>
              <a:cxnLst/>
              <a:rect l="l" t="t" r="r" b="b"/>
              <a:pathLst>
                <a:path w="9461500" h="19050000">
                  <a:moveTo>
                    <a:pt x="94615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461500" y="0"/>
                  </a:lnTo>
                  <a:lnTo>
                    <a:pt x="9461500" y="19050000"/>
                  </a:lnTo>
                  <a:close/>
                </a:path>
              </a:pathLst>
            </a:custGeom>
            <a:blipFill>
              <a:blip r:embed="rId4"/>
              <a:stretch>
                <a:fillRect l="-83" r="-8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4768198" y="428676"/>
            <a:ext cx="8697260" cy="2285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  <a:spcBef>
                <a:spcPct val="0"/>
              </a:spcBef>
            </a:pPr>
            <a:r>
              <a:rPr lang="en-US" sz="8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Meet </a:t>
            </a:r>
            <a:r>
              <a:rPr lang="en-US" sz="80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AYDNFLOW</a:t>
            </a:r>
          </a:p>
          <a:p>
            <a:pPr algn="ctr">
              <a:lnSpc>
                <a:spcPts val="6678"/>
              </a:lnSpc>
              <a:spcBef>
                <a:spcPct val="0"/>
              </a:spcBef>
            </a:pPr>
            <a:r>
              <a:rPr lang="en-US" sz="477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Multi-lingual AI Agent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8955" y="2878090"/>
            <a:ext cx="17155746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tireless, bilingual digital workforce that never sleeps — built to understand your customers the way your best agents would.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851121" y="6787970"/>
            <a:ext cx="5436879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15+ Arabic Dialects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Native understanding not translation, true localization.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-208390" y="6867977"/>
            <a:ext cx="4976587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Instant Responses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Zero wait times.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Zero missed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6127" y="590601"/>
            <a:ext cx="17155746" cy="9105799"/>
            <a:chOff x="0" y="0"/>
            <a:chExt cx="4518386" cy="2398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8386" cy="2398235"/>
            </a:xfrm>
            <a:custGeom>
              <a:avLst/>
              <a:gdLst/>
              <a:ahLst/>
              <a:cxnLst/>
              <a:rect l="l" t="t" r="r" b="b"/>
              <a:pathLst>
                <a:path w="4518386" h="2398235">
                  <a:moveTo>
                    <a:pt x="17148" y="0"/>
                  </a:moveTo>
                  <a:lnTo>
                    <a:pt x="4501238" y="0"/>
                  </a:lnTo>
                  <a:cubicBezTo>
                    <a:pt x="4505785" y="0"/>
                    <a:pt x="4510147" y="1807"/>
                    <a:pt x="4513363" y="5023"/>
                  </a:cubicBezTo>
                  <a:cubicBezTo>
                    <a:pt x="4516579" y="8239"/>
                    <a:pt x="4518386" y="12600"/>
                    <a:pt x="4518386" y="17148"/>
                  </a:cubicBezTo>
                  <a:lnTo>
                    <a:pt x="4518386" y="2381087"/>
                  </a:lnTo>
                  <a:cubicBezTo>
                    <a:pt x="4518386" y="2385635"/>
                    <a:pt x="4516579" y="2389996"/>
                    <a:pt x="4513363" y="2393212"/>
                  </a:cubicBezTo>
                  <a:cubicBezTo>
                    <a:pt x="4510147" y="2396428"/>
                    <a:pt x="4505785" y="2398235"/>
                    <a:pt x="4501238" y="2398235"/>
                  </a:cubicBezTo>
                  <a:lnTo>
                    <a:pt x="17148" y="2398235"/>
                  </a:lnTo>
                  <a:cubicBezTo>
                    <a:pt x="12600" y="2398235"/>
                    <a:pt x="8239" y="2396428"/>
                    <a:pt x="5023" y="2393212"/>
                  </a:cubicBezTo>
                  <a:cubicBezTo>
                    <a:pt x="1807" y="2389996"/>
                    <a:pt x="0" y="2385635"/>
                    <a:pt x="0" y="2381087"/>
                  </a:cubicBezTo>
                  <a:lnTo>
                    <a:pt x="0" y="17148"/>
                  </a:lnTo>
                  <a:cubicBezTo>
                    <a:pt x="0" y="12600"/>
                    <a:pt x="1807" y="8239"/>
                    <a:pt x="5023" y="5023"/>
                  </a:cubicBezTo>
                  <a:cubicBezTo>
                    <a:pt x="8239" y="1807"/>
                    <a:pt x="12600" y="0"/>
                    <a:pt x="17148" y="0"/>
                  </a:cubicBezTo>
                  <a:close/>
                </a:path>
              </a:pathLst>
            </a:custGeom>
            <a:solidFill>
              <a:srgbClr val="000000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18386" cy="243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39700" y="554131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195424" y="137908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727123" y="1020329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544634" y="1683915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265186" y="309288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850672" y="863373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3239387" y="990982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625050" y="8406081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787559" y="8451990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5379148" y="408916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641078" y="1514691"/>
            <a:ext cx="15263540" cy="8558724"/>
            <a:chOff x="0" y="0"/>
            <a:chExt cx="20351386" cy="114116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59319" cy="11135636"/>
            </a:xfrm>
            <a:custGeom>
              <a:avLst/>
              <a:gdLst/>
              <a:ahLst/>
              <a:cxnLst/>
              <a:rect l="l" t="t" r="r" b="b"/>
              <a:pathLst>
                <a:path w="19959319" h="11135636">
                  <a:moveTo>
                    <a:pt x="0" y="0"/>
                  </a:moveTo>
                  <a:lnTo>
                    <a:pt x="19959319" y="0"/>
                  </a:lnTo>
                  <a:lnTo>
                    <a:pt x="19959319" y="11135636"/>
                  </a:lnTo>
                  <a:lnTo>
                    <a:pt x="0" y="111356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9" r="-13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18618853" y="9852080"/>
              <a:ext cx="1732533" cy="1283557"/>
            </a:xfrm>
            <a:custGeom>
              <a:avLst/>
              <a:gdLst/>
              <a:ahLst/>
              <a:cxnLst/>
              <a:rect l="l" t="t" r="r" b="b"/>
              <a:pathLst>
                <a:path w="1732533" h="1283557">
                  <a:moveTo>
                    <a:pt x="0" y="0"/>
                  </a:moveTo>
                  <a:lnTo>
                    <a:pt x="1732533" y="0"/>
                  </a:lnTo>
                  <a:lnTo>
                    <a:pt x="1732533" y="1283556"/>
                  </a:lnTo>
                  <a:lnTo>
                    <a:pt x="0" y="12835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7189" b="-5718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9403" y="10174780"/>
              <a:ext cx="1381613" cy="1236852"/>
            </a:xfrm>
            <a:custGeom>
              <a:avLst/>
              <a:gdLst/>
              <a:ahLst/>
              <a:cxnLst/>
              <a:rect l="l" t="t" r="r" b="b"/>
              <a:pathLst>
                <a:path w="1381613" h="1236852">
                  <a:moveTo>
                    <a:pt x="0" y="0"/>
                  </a:moveTo>
                  <a:lnTo>
                    <a:pt x="1381613" y="0"/>
                  </a:lnTo>
                  <a:lnTo>
                    <a:pt x="1381613" y="1236852"/>
                  </a:lnTo>
                  <a:lnTo>
                    <a:pt x="0" y="1236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8706" b="-3870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567935" y="7796279"/>
            <a:ext cx="5627489" cy="655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3"/>
              </a:lnSpc>
            </a:pPr>
            <a:r>
              <a:rPr lang="en-US" sz="3809" b="1">
                <a:solidFill>
                  <a:srgbClr val="1D161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809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ar-EG" sz="380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  <a:rtl/>
              </a:rPr>
              <a:t>لا يعتمد علي الترجمه فقط</a:t>
            </a:r>
            <a:r>
              <a:rPr lang="en-US" sz="3809" b="1">
                <a:solidFill>
                  <a:srgbClr val="C1FF72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2102" y="596900"/>
            <a:ext cx="17983795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Most AI models are English-first. In Arabic, they collapse, mixing dialects and breaking customer trust.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03608" y="1912544"/>
            <a:ext cx="3575298" cy="646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Built for Arabic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25823" y="8375790"/>
            <a:ext cx="4160639" cy="1228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FAF9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Thinks in English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AF9F7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Translates to Arabic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66230" y="1779703"/>
            <a:ext cx="3499227" cy="131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English Logic, Arabic 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6127" y="760619"/>
            <a:ext cx="17155746" cy="9105799"/>
            <a:chOff x="0" y="0"/>
            <a:chExt cx="4518386" cy="2398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8386" cy="2398235"/>
            </a:xfrm>
            <a:custGeom>
              <a:avLst/>
              <a:gdLst/>
              <a:ahLst/>
              <a:cxnLst/>
              <a:rect l="l" t="t" r="r" b="b"/>
              <a:pathLst>
                <a:path w="4518386" h="2398235">
                  <a:moveTo>
                    <a:pt x="17148" y="0"/>
                  </a:moveTo>
                  <a:lnTo>
                    <a:pt x="4501238" y="0"/>
                  </a:lnTo>
                  <a:cubicBezTo>
                    <a:pt x="4505785" y="0"/>
                    <a:pt x="4510147" y="1807"/>
                    <a:pt x="4513363" y="5023"/>
                  </a:cubicBezTo>
                  <a:cubicBezTo>
                    <a:pt x="4516579" y="8239"/>
                    <a:pt x="4518386" y="12600"/>
                    <a:pt x="4518386" y="17148"/>
                  </a:cubicBezTo>
                  <a:lnTo>
                    <a:pt x="4518386" y="2381087"/>
                  </a:lnTo>
                  <a:cubicBezTo>
                    <a:pt x="4518386" y="2385635"/>
                    <a:pt x="4516579" y="2389996"/>
                    <a:pt x="4513363" y="2393212"/>
                  </a:cubicBezTo>
                  <a:cubicBezTo>
                    <a:pt x="4510147" y="2396428"/>
                    <a:pt x="4505785" y="2398235"/>
                    <a:pt x="4501238" y="2398235"/>
                  </a:cubicBezTo>
                  <a:lnTo>
                    <a:pt x="17148" y="2398235"/>
                  </a:lnTo>
                  <a:cubicBezTo>
                    <a:pt x="12600" y="2398235"/>
                    <a:pt x="8239" y="2396428"/>
                    <a:pt x="5023" y="2393212"/>
                  </a:cubicBezTo>
                  <a:cubicBezTo>
                    <a:pt x="1807" y="2389996"/>
                    <a:pt x="0" y="2385635"/>
                    <a:pt x="0" y="2381087"/>
                  </a:cubicBezTo>
                  <a:lnTo>
                    <a:pt x="0" y="17148"/>
                  </a:lnTo>
                  <a:cubicBezTo>
                    <a:pt x="0" y="12600"/>
                    <a:pt x="1807" y="8239"/>
                    <a:pt x="5023" y="5023"/>
                  </a:cubicBezTo>
                  <a:cubicBezTo>
                    <a:pt x="8239" y="1807"/>
                    <a:pt x="12600" y="0"/>
                    <a:pt x="17148" y="0"/>
                  </a:cubicBezTo>
                  <a:close/>
                </a:path>
              </a:pathLst>
            </a:custGeom>
            <a:solidFill>
              <a:srgbClr val="000000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518386" cy="2455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41032" y="563129"/>
            <a:ext cx="2222611" cy="2996921"/>
          </a:xfrm>
          <a:custGeom>
            <a:avLst/>
            <a:gdLst/>
            <a:ahLst/>
            <a:cxnLst/>
            <a:rect l="l" t="t" r="r" b="b"/>
            <a:pathLst>
              <a:path w="2222611" h="2996921">
                <a:moveTo>
                  <a:pt x="0" y="0"/>
                </a:moveTo>
                <a:lnTo>
                  <a:pt x="2222611" y="0"/>
                </a:lnTo>
                <a:lnTo>
                  <a:pt x="2222611" y="2996921"/>
                </a:lnTo>
                <a:lnTo>
                  <a:pt x="0" y="2996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15499262" y="625390"/>
            <a:ext cx="2222611" cy="2996921"/>
          </a:xfrm>
          <a:custGeom>
            <a:avLst/>
            <a:gdLst/>
            <a:ahLst/>
            <a:cxnLst/>
            <a:rect l="l" t="t" r="r" b="b"/>
            <a:pathLst>
              <a:path w="2222611" h="2996921">
                <a:moveTo>
                  <a:pt x="0" y="0"/>
                </a:moveTo>
                <a:lnTo>
                  <a:pt x="2222611" y="0"/>
                </a:lnTo>
                <a:lnTo>
                  <a:pt x="2222611" y="2996921"/>
                </a:lnTo>
                <a:lnTo>
                  <a:pt x="0" y="2996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239700" y="554131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195424" y="137908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727123" y="1020329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544634" y="1683915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265186" y="309288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8501547" y="6150974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6"/>
                </a:lnTo>
                <a:lnTo>
                  <a:pt x="0" y="609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3239387" y="990982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625050" y="8406081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787559" y="8451990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5499262" y="4334824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6"/>
                </a:lnTo>
                <a:lnTo>
                  <a:pt x="0" y="609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4587623" y="2100186"/>
            <a:ext cx="9112755" cy="108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39"/>
              </a:lnSpc>
            </a:pPr>
            <a:r>
              <a:rPr lang="en-US" sz="8799" b="1" spc="-67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AYDNFLOW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2158" y="4920235"/>
            <a:ext cx="8373398" cy="295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Generative AI Mode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Fluid, human-like conversations for complex sales and support.</a:t>
            </a:r>
          </a:p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Deterministic Template Mode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Rule-based, auditable workflows for regulated transactions.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09325" y="3137775"/>
            <a:ext cx="493246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Infinite Scale, Predictable Costs.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348474" y="4920235"/>
            <a:ext cx="8373398" cy="295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Subscription Quotas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Your tier powers a set volume of Generative AI interactions.</a:t>
            </a:r>
          </a:p>
          <a:p>
            <a:pPr algn="l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Zero-Downtime Fallback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Exceed your AI quota? The system instantly falls back to Template Mode.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2850" y="8558318"/>
            <a:ext cx="8081677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Business Impact</a:t>
            </a: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100% uptime for your customers. Zero hidden inference costs or runaway token bills for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08660"/>
            <a:ext cx="18288000" cy="8869680"/>
          </a:xfrm>
          <a:custGeom>
            <a:avLst/>
            <a:gdLst/>
            <a:ahLst/>
            <a:cxnLst/>
            <a:rect l="l" t="t" r="r" b="b"/>
            <a:pathLst>
              <a:path w="18288000" h="8869680">
                <a:moveTo>
                  <a:pt x="0" y="0"/>
                </a:moveTo>
                <a:lnTo>
                  <a:pt x="18288000" y="0"/>
                </a:lnTo>
                <a:lnTo>
                  <a:pt x="18288000" y="8869680"/>
                </a:lnTo>
                <a:lnTo>
                  <a:pt x="0" y="8869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02945"/>
            <a:ext cx="18288000" cy="8881110"/>
          </a:xfrm>
          <a:custGeom>
            <a:avLst/>
            <a:gdLst/>
            <a:ahLst/>
            <a:cxnLst/>
            <a:rect l="l" t="t" r="r" b="b"/>
            <a:pathLst>
              <a:path w="18288000" h="8881110">
                <a:moveTo>
                  <a:pt x="0" y="0"/>
                </a:moveTo>
                <a:lnTo>
                  <a:pt x="18288000" y="0"/>
                </a:lnTo>
                <a:lnTo>
                  <a:pt x="18288000" y="8881110"/>
                </a:lnTo>
                <a:lnTo>
                  <a:pt x="0" y="88811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12318316" y="2437996"/>
            <a:ext cx="0" cy="49137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028700" y="1028700"/>
            <a:ext cx="16230600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59"/>
              </a:lnSpc>
              <a:spcBef>
                <a:spcPct val="0"/>
              </a:spcBef>
            </a:pPr>
            <a:r>
              <a:rPr lang="en-US" sz="8799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AydnFlow as a service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610247" y="2760117"/>
            <a:ext cx="5448809" cy="7392123"/>
            <a:chOff x="0" y="0"/>
            <a:chExt cx="7265079" cy="9856164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7265079" cy="4009073"/>
              <a:chOff x="0" y="0"/>
              <a:chExt cx="1435077" cy="79191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435077" cy="791916"/>
              </a:xfrm>
              <a:custGeom>
                <a:avLst/>
                <a:gdLst/>
                <a:ahLst/>
                <a:cxnLst/>
                <a:rect l="l" t="t" r="r" b="b"/>
                <a:pathLst>
                  <a:path w="1435077" h="791916">
                    <a:moveTo>
                      <a:pt x="24154" y="0"/>
                    </a:moveTo>
                    <a:lnTo>
                      <a:pt x="1410923" y="0"/>
                    </a:lnTo>
                    <a:cubicBezTo>
                      <a:pt x="1424263" y="0"/>
                      <a:pt x="1435077" y="10814"/>
                      <a:pt x="1435077" y="24154"/>
                    </a:cubicBezTo>
                    <a:lnTo>
                      <a:pt x="1435077" y="767761"/>
                    </a:lnTo>
                    <a:cubicBezTo>
                      <a:pt x="1435077" y="781101"/>
                      <a:pt x="1424263" y="791916"/>
                      <a:pt x="1410923" y="791916"/>
                    </a:cubicBezTo>
                    <a:lnTo>
                      <a:pt x="24154" y="791916"/>
                    </a:lnTo>
                    <a:cubicBezTo>
                      <a:pt x="10814" y="791916"/>
                      <a:pt x="0" y="781101"/>
                      <a:pt x="0" y="767761"/>
                    </a:cubicBezTo>
                    <a:lnTo>
                      <a:pt x="0" y="24154"/>
                    </a:lnTo>
                    <a:cubicBezTo>
                      <a:pt x="0" y="10814"/>
                      <a:pt x="10814" y="0"/>
                      <a:pt x="2415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435077" cy="83001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449681" y="262136"/>
              <a:ext cx="206622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b="1">
                  <a:solidFill>
                    <a:srgbClr val="1D161A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Starter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97657" y="1261568"/>
              <a:ext cx="6589304" cy="2627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2 human seats</a:t>
              </a:r>
            </a:p>
            <a:p>
              <a:pPr algn="just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web widget</a:t>
              </a:r>
            </a:p>
            <a:p>
              <a:pPr algn="just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Unlimited Template Mode</a:t>
              </a:r>
            </a:p>
            <a:p>
              <a:pPr algn="just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1,000 AI chat credits. </a:t>
              </a:r>
            </a:p>
            <a:p>
              <a:pPr algn="just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12 concurrent customers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0" y="4085976"/>
              <a:ext cx="7265079" cy="1648748"/>
              <a:chOff x="0" y="0"/>
              <a:chExt cx="1435077" cy="32567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35077" cy="325679"/>
              </a:xfrm>
              <a:custGeom>
                <a:avLst/>
                <a:gdLst/>
                <a:ahLst/>
                <a:cxnLst/>
                <a:rect l="l" t="t" r="r" b="b"/>
                <a:pathLst>
                  <a:path w="1435077" h="325679">
                    <a:moveTo>
                      <a:pt x="24154" y="0"/>
                    </a:moveTo>
                    <a:lnTo>
                      <a:pt x="1410923" y="0"/>
                    </a:lnTo>
                    <a:cubicBezTo>
                      <a:pt x="1424263" y="0"/>
                      <a:pt x="1435077" y="10814"/>
                      <a:pt x="1435077" y="24154"/>
                    </a:cubicBezTo>
                    <a:lnTo>
                      <a:pt x="1435077" y="301524"/>
                    </a:lnTo>
                    <a:cubicBezTo>
                      <a:pt x="1435077" y="314864"/>
                      <a:pt x="1424263" y="325679"/>
                      <a:pt x="1410923" y="325679"/>
                    </a:cubicBezTo>
                    <a:lnTo>
                      <a:pt x="24154" y="325679"/>
                    </a:lnTo>
                    <a:cubicBezTo>
                      <a:pt x="10814" y="325679"/>
                      <a:pt x="0" y="314864"/>
                      <a:pt x="0" y="301524"/>
                    </a:cubicBezTo>
                    <a:lnTo>
                      <a:pt x="0" y="24154"/>
                    </a:lnTo>
                    <a:cubicBezTo>
                      <a:pt x="0" y="10814"/>
                      <a:pt x="10814" y="0"/>
                      <a:pt x="2415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35077" cy="36377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97657" y="4237673"/>
              <a:ext cx="7008907" cy="1307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0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1D16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$0.015 per client for each extra client to handle</a:t>
              </a:r>
            </a:p>
            <a:p>
              <a:pPr algn="l">
                <a:lnSpc>
                  <a:spcPts val="2660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1D16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$0.06 per chat credit </a:t>
              </a:r>
            </a:p>
            <a:p>
              <a:pPr algn="l">
                <a:lnSpc>
                  <a:spcPts val="2660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1D16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Extra human seat: $5/mo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5222671" y="123284"/>
              <a:ext cx="941147" cy="900079"/>
            </a:xfrm>
            <a:custGeom>
              <a:avLst/>
              <a:gdLst/>
              <a:ahLst/>
              <a:cxnLst/>
              <a:rect l="l" t="t" r="r" b="b"/>
              <a:pathLst>
                <a:path w="941147" h="900079">
                  <a:moveTo>
                    <a:pt x="0" y="0"/>
                  </a:moveTo>
                  <a:lnTo>
                    <a:pt x="941146" y="0"/>
                  </a:lnTo>
                  <a:lnTo>
                    <a:pt x="941146" y="900079"/>
                  </a:lnTo>
                  <a:lnTo>
                    <a:pt x="0" y="90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1189484" y="6931931"/>
              <a:ext cx="2924233" cy="2924233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-47625"/>
                <a:ext cx="660400" cy="784225"/>
              </a:xfrm>
              <a:prstGeom prst="rect">
                <a:avLst/>
              </a:prstGeom>
            </p:spPr>
            <p:txBody>
              <a:bodyPr lIns="67598" tIns="67598" rIns="67598" bIns="67598" rtlCol="0" anchor="ctr"/>
              <a:lstStyle/>
              <a:p>
                <a:pPr algn="ctr">
                  <a:lnSpc>
                    <a:spcPts val="9799"/>
                  </a:lnSpc>
                </a:pPr>
                <a:r>
                  <a:rPr lang="en-US" sz="6999" b="1">
                    <a:solidFill>
                      <a:srgbClr val="FFFFFF"/>
                    </a:solidFill>
                    <a:latin typeface="TT Fors Bold"/>
                    <a:ea typeface="TT Fors Bold"/>
                    <a:cs typeface="TT Fors Bold"/>
                    <a:sym typeface="TT Fors Bold"/>
                  </a:rPr>
                  <a:t>$40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661056" y="8656783"/>
              <a:ext cx="2604361" cy="6632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84"/>
                </a:lnSpc>
                <a:spcBef>
                  <a:spcPct val="0"/>
                </a:spcBef>
              </a:pPr>
              <a:r>
                <a:rPr lang="en-US" sz="306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per month 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265417" y="135947"/>
              <a:ext cx="941147" cy="900079"/>
            </a:xfrm>
            <a:custGeom>
              <a:avLst/>
              <a:gdLst/>
              <a:ahLst/>
              <a:cxnLst/>
              <a:rect l="l" t="t" r="r" b="b"/>
              <a:pathLst>
                <a:path w="941147" h="900079">
                  <a:moveTo>
                    <a:pt x="0" y="0"/>
                  </a:moveTo>
                  <a:lnTo>
                    <a:pt x="941147" y="0"/>
                  </a:lnTo>
                  <a:lnTo>
                    <a:pt x="941147" y="900079"/>
                  </a:lnTo>
                  <a:lnTo>
                    <a:pt x="0" y="90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930247" y="2760117"/>
            <a:ext cx="5339361" cy="7367294"/>
            <a:chOff x="0" y="0"/>
            <a:chExt cx="7119149" cy="9823059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7079272" cy="5429040"/>
              <a:chOff x="0" y="0"/>
              <a:chExt cx="1398375" cy="107240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398375" cy="1072403"/>
              </a:xfrm>
              <a:custGeom>
                <a:avLst/>
                <a:gdLst/>
                <a:ahLst/>
                <a:cxnLst/>
                <a:rect l="l" t="t" r="r" b="b"/>
                <a:pathLst>
                  <a:path w="1398375" h="1072403">
                    <a:moveTo>
                      <a:pt x="24788" y="0"/>
                    </a:moveTo>
                    <a:lnTo>
                      <a:pt x="1373586" y="0"/>
                    </a:lnTo>
                    <a:cubicBezTo>
                      <a:pt x="1387276" y="0"/>
                      <a:pt x="1398375" y="11098"/>
                      <a:pt x="1398375" y="24788"/>
                    </a:cubicBezTo>
                    <a:lnTo>
                      <a:pt x="1398375" y="1047615"/>
                    </a:lnTo>
                    <a:cubicBezTo>
                      <a:pt x="1398375" y="1061305"/>
                      <a:pt x="1387276" y="1072403"/>
                      <a:pt x="1373586" y="1072403"/>
                    </a:cubicBezTo>
                    <a:lnTo>
                      <a:pt x="24788" y="1072403"/>
                    </a:lnTo>
                    <a:cubicBezTo>
                      <a:pt x="11098" y="1072403"/>
                      <a:pt x="0" y="1061305"/>
                      <a:pt x="0" y="1047615"/>
                    </a:cubicBezTo>
                    <a:lnTo>
                      <a:pt x="0" y="24788"/>
                    </a:lnTo>
                    <a:cubicBezTo>
                      <a:pt x="0" y="11098"/>
                      <a:pt x="11098" y="0"/>
                      <a:pt x="247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-38100"/>
                <a:ext cx="1398375" cy="111050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252024" y="322867"/>
              <a:ext cx="5415032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b="1">
                  <a:solidFill>
                    <a:srgbClr val="1D161A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Professional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2024" y="1451653"/>
              <a:ext cx="5970283" cy="36940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5 human seats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web widget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CRM sync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WhatsApp/Telegram integration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Unlimited Template Mode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3,000 AI chat credits. </a:t>
              </a:r>
            </a:p>
            <a:p>
              <a:pPr algn="l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30 concurrent customers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5506086"/>
              <a:ext cx="7079272" cy="1458950"/>
              <a:chOff x="0" y="0"/>
              <a:chExt cx="1398375" cy="2881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398375" cy="288188"/>
              </a:xfrm>
              <a:custGeom>
                <a:avLst/>
                <a:gdLst/>
                <a:ahLst/>
                <a:cxnLst/>
                <a:rect l="l" t="t" r="r" b="b"/>
                <a:pathLst>
                  <a:path w="1398375" h="288188">
                    <a:moveTo>
                      <a:pt x="24788" y="0"/>
                    </a:moveTo>
                    <a:lnTo>
                      <a:pt x="1373586" y="0"/>
                    </a:lnTo>
                    <a:cubicBezTo>
                      <a:pt x="1387276" y="0"/>
                      <a:pt x="1398375" y="11098"/>
                      <a:pt x="1398375" y="24788"/>
                    </a:cubicBezTo>
                    <a:lnTo>
                      <a:pt x="1398375" y="263399"/>
                    </a:lnTo>
                    <a:cubicBezTo>
                      <a:pt x="1398375" y="277090"/>
                      <a:pt x="1387276" y="288188"/>
                      <a:pt x="1373586" y="288188"/>
                    </a:cubicBezTo>
                    <a:lnTo>
                      <a:pt x="24788" y="288188"/>
                    </a:lnTo>
                    <a:cubicBezTo>
                      <a:pt x="11098" y="288188"/>
                      <a:pt x="0" y="277090"/>
                      <a:pt x="0" y="263399"/>
                    </a:cubicBezTo>
                    <a:lnTo>
                      <a:pt x="0" y="24788"/>
                    </a:lnTo>
                    <a:cubicBezTo>
                      <a:pt x="0" y="11098"/>
                      <a:pt x="11098" y="0"/>
                      <a:pt x="2478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1398375" cy="3262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252024" y="5562885"/>
              <a:ext cx="6684691" cy="13072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60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1D16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$0.010 per client for each extra client to handle</a:t>
              </a:r>
            </a:p>
            <a:p>
              <a:pPr algn="l">
                <a:lnSpc>
                  <a:spcPts val="2660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1D16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$0.04 per chat credit </a:t>
              </a:r>
            </a:p>
            <a:p>
              <a:pPr algn="l">
                <a:lnSpc>
                  <a:spcPts val="2660"/>
                </a:lnSpc>
                <a:spcBef>
                  <a:spcPct val="0"/>
                </a:spcBef>
              </a:pPr>
              <a:r>
                <a:rPr lang="en-US" sz="1900">
                  <a:solidFill>
                    <a:srgbClr val="1D16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Extra human seat: $5/mo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913612" y="6965036"/>
              <a:ext cx="4071565" cy="2858022"/>
              <a:chOff x="0" y="0"/>
              <a:chExt cx="1110091" cy="7792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1110091" cy="779225"/>
              </a:xfrm>
              <a:custGeom>
                <a:avLst/>
                <a:gdLst/>
                <a:ahLst/>
                <a:cxnLst/>
                <a:rect l="l" t="t" r="r" b="b"/>
                <a:pathLst>
                  <a:path w="1110091" h="779225">
                    <a:moveTo>
                      <a:pt x="555045" y="0"/>
                    </a:moveTo>
                    <a:cubicBezTo>
                      <a:pt x="248502" y="0"/>
                      <a:pt x="0" y="174435"/>
                      <a:pt x="0" y="389612"/>
                    </a:cubicBezTo>
                    <a:cubicBezTo>
                      <a:pt x="0" y="604789"/>
                      <a:pt x="248502" y="779225"/>
                      <a:pt x="555045" y="779225"/>
                    </a:cubicBezTo>
                    <a:cubicBezTo>
                      <a:pt x="861589" y="779225"/>
                      <a:pt x="1110091" y="604789"/>
                      <a:pt x="1110091" y="389612"/>
                    </a:cubicBezTo>
                    <a:cubicBezTo>
                      <a:pt x="1110091" y="174435"/>
                      <a:pt x="861589" y="0"/>
                      <a:pt x="55504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4071" y="-50773"/>
                <a:ext cx="901949" cy="75694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9"/>
                  </a:lnSpc>
                </a:pPr>
                <a:r>
                  <a:rPr lang="en-US" sz="6999" b="1">
                    <a:solidFill>
                      <a:srgbClr val="FFFFFF"/>
                    </a:solidFill>
                    <a:latin typeface="TT Fors Bold"/>
                    <a:ea typeface="TT Fors Bold"/>
                    <a:cs typeface="TT Fors Bold"/>
                    <a:sym typeface="TT Fors Bold"/>
                  </a:rPr>
                  <a:t>$100</a:t>
                </a:r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4329815" y="8738429"/>
              <a:ext cx="2789334" cy="6774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84"/>
                </a:lnSpc>
                <a:spcBef>
                  <a:spcPct val="0"/>
                </a:spcBef>
              </a:pPr>
              <a:r>
                <a:rPr lang="en-US" sz="3060">
                  <a:solidFill>
                    <a:srgbClr val="FFFFFF"/>
                  </a:solidFill>
                  <a:latin typeface="TT Fors"/>
                  <a:ea typeface="TT Fors"/>
                  <a:cs typeface="TT Fors"/>
                  <a:sym typeface="TT Fors"/>
                </a:rPr>
                <a:t>per month 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111114" y="262136"/>
              <a:ext cx="822440" cy="786552"/>
            </a:xfrm>
            <a:custGeom>
              <a:avLst/>
              <a:gdLst/>
              <a:ahLst/>
              <a:cxnLst/>
              <a:rect l="l" t="t" r="r" b="b"/>
              <a:pathLst>
                <a:path w="822440" h="786552">
                  <a:moveTo>
                    <a:pt x="0" y="0"/>
                  </a:moveTo>
                  <a:lnTo>
                    <a:pt x="822440" y="0"/>
                  </a:lnTo>
                  <a:lnTo>
                    <a:pt x="822440" y="786552"/>
                  </a:lnTo>
                  <a:lnTo>
                    <a:pt x="0" y="786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3859241" y="196678"/>
              <a:ext cx="941147" cy="900079"/>
            </a:xfrm>
            <a:custGeom>
              <a:avLst/>
              <a:gdLst/>
              <a:ahLst/>
              <a:cxnLst/>
              <a:rect l="l" t="t" r="r" b="b"/>
              <a:pathLst>
                <a:path w="941147" h="900079">
                  <a:moveTo>
                    <a:pt x="0" y="0"/>
                  </a:moveTo>
                  <a:lnTo>
                    <a:pt x="941147" y="0"/>
                  </a:lnTo>
                  <a:lnTo>
                    <a:pt x="941147" y="900078"/>
                  </a:lnTo>
                  <a:lnTo>
                    <a:pt x="0" y="900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4985178" y="196678"/>
              <a:ext cx="941147" cy="900079"/>
            </a:xfrm>
            <a:custGeom>
              <a:avLst/>
              <a:gdLst/>
              <a:ahLst/>
              <a:cxnLst/>
              <a:rect l="l" t="t" r="r" b="b"/>
              <a:pathLst>
                <a:path w="941147" h="900079">
                  <a:moveTo>
                    <a:pt x="0" y="0"/>
                  </a:moveTo>
                  <a:lnTo>
                    <a:pt x="941146" y="0"/>
                  </a:lnTo>
                  <a:lnTo>
                    <a:pt x="941146" y="900078"/>
                  </a:lnTo>
                  <a:lnTo>
                    <a:pt x="0" y="900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8700" y="2760117"/>
            <a:ext cx="3718738" cy="7444383"/>
            <a:chOff x="0" y="0"/>
            <a:chExt cx="4958317" cy="9925844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4958317" cy="4331744"/>
              <a:chOff x="0" y="0"/>
              <a:chExt cx="979421" cy="85565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979421" cy="855653"/>
              </a:xfrm>
              <a:custGeom>
                <a:avLst/>
                <a:gdLst/>
                <a:ahLst/>
                <a:cxnLst/>
                <a:rect l="l" t="t" r="r" b="b"/>
                <a:pathLst>
                  <a:path w="979421" h="855653">
                    <a:moveTo>
                      <a:pt x="35392" y="0"/>
                    </a:moveTo>
                    <a:lnTo>
                      <a:pt x="944029" y="0"/>
                    </a:lnTo>
                    <a:cubicBezTo>
                      <a:pt x="963575" y="0"/>
                      <a:pt x="979421" y="15845"/>
                      <a:pt x="979421" y="35392"/>
                    </a:cubicBezTo>
                    <a:lnTo>
                      <a:pt x="979421" y="820261"/>
                    </a:lnTo>
                    <a:cubicBezTo>
                      <a:pt x="979421" y="839808"/>
                      <a:pt x="963575" y="855653"/>
                      <a:pt x="944029" y="855653"/>
                    </a:cubicBezTo>
                    <a:lnTo>
                      <a:pt x="35392" y="855653"/>
                    </a:lnTo>
                    <a:cubicBezTo>
                      <a:pt x="15845" y="855653"/>
                      <a:pt x="0" y="839808"/>
                      <a:pt x="0" y="820261"/>
                    </a:cubicBezTo>
                    <a:lnTo>
                      <a:pt x="0" y="35392"/>
                    </a:lnTo>
                    <a:cubicBezTo>
                      <a:pt x="0" y="15845"/>
                      <a:pt x="15845" y="0"/>
                      <a:pt x="3539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979421" cy="8937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0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250445" y="322867"/>
              <a:ext cx="4475390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40"/>
                </a:lnSpc>
                <a:spcBef>
                  <a:spcPct val="0"/>
                </a:spcBef>
              </a:pPr>
              <a:r>
                <a:rPr lang="en-US" sz="3200" b="1">
                  <a:solidFill>
                    <a:srgbClr val="1D161A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Limited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9269" y="1381867"/>
              <a:ext cx="4486566" cy="26272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1 human seat</a:t>
              </a:r>
            </a:p>
            <a:p>
              <a:pPr algn="just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Limited web widget</a:t>
              </a:r>
            </a:p>
            <a:p>
              <a:pPr algn="just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Template Mode </a:t>
              </a:r>
            </a:p>
            <a:p>
              <a:pPr algn="just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150 AI chat credits. </a:t>
              </a:r>
            </a:p>
            <a:p>
              <a:pPr algn="just">
                <a:lnSpc>
                  <a:spcPts val="3220"/>
                </a:lnSpc>
              </a:pPr>
              <a:r>
                <a:rPr lang="en-US" sz="2300">
                  <a:solidFill>
                    <a:srgbClr val="1D161A"/>
                  </a:solidFill>
                  <a:latin typeface="TT Fors"/>
                  <a:ea typeface="TT Fors"/>
                  <a:cs typeface="TT Fors"/>
                  <a:sym typeface="TT Fors"/>
                </a:rPr>
                <a:t>5 concurrent customers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4063911" y="196678"/>
              <a:ext cx="822440" cy="786552"/>
            </a:xfrm>
            <a:custGeom>
              <a:avLst/>
              <a:gdLst/>
              <a:ahLst/>
              <a:cxnLst/>
              <a:rect l="l" t="t" r="r" b="b"/>
              <a:pathLst>
                <a:path w="822440" h="786552">
                  <a:moveTo>
                    <a:pt x="0" y="0"/>
                  </a:moveTo>
                  <a:lnTo>
                    <a:pt x="822441" y="0"/>
                  </a:lnTo>
                  <a:lnTo>
                    <a:pt x="822441" y="786552"/>
                  </a:lnTo>
                  <a:lnTo>
                    <a:pt x="0" y="786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767140" y="7115126"/>
              <a:ext cx="3442001" cy="2810718"/>
              <a:chOff x="0" y="0"/>
              <a:chExt cx="812800" cy="663728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66372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663728">
                    <a:moveTo>
                      <a:pt x="406400" y="0"/>
                    </a:moveTo>
                    <a:cubicBezTo>
                      <a:pt x="181951" y="0"/>
                      <a:pt x="0" y="148581"/>
                      <a:pt x="0" y="331864"/>
                    </a:cubicBezTo>
                    <a:cubicBezTo>
                      <a:pt x="0" y="515147"/>
                      <a:pt x="181951" y="663728"/>
                      <a:pt x="406400" y="663728"/>
                    </a:cubicBezTo>
                    <a:cubicBezTo>
                      <a:pt x="630849" y="663728"/>
                      <a:pt x="812800" y="515147"/>
                      <a:pt x="812800" y="331864"/>
                    </a:cubicBezTo>
                    <a:cubicBezTo>
                      <a:pt x="812800" y="14858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200" y="-61601"/>
                <a:ext cx="660400" cy="66310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9799"/>
                  </a:lnSpc>
                </a:pPr>
                <a:r>
                  <a:rPr lang="en-US" sz="6999" b="1">
                    <a:solidFill>
                      <a:srgbClr val="FFFFFF"/>
                    </a:solidFill>
                    <a:latin typeface="TT Fors Bold"/>
                    <a:ea typeface="TT Fors Bold"/>
                    <a:cs typeface="TT Fors Bold"/>
                    <a:sym typeface="TT Fors Bold"/>
                  </a:rPr>
                  <a:t>$0</a:t>
                </a:r>
              </a:p>
            </p:txBody>
          </p:sp>
        </p:grpSp>
      </p:grpSp>
      <p:sp>
        <p:nvSpPr>
          <p:cNvPr id="47" name="Freeform 47"/>
          <p:cNvSpPr/>
          <p:nvPr/>
        </p:nvSpPr>
        <p:spPr>
          <a:xfrm>
            <a:off x="16950961" y="58090"/>
            <a:ext cx="1258480" cy="1696907"/>
          </a:xfrm>
          <a:custGeom>
            <a:avLst/>
            <a:gdLst/>
            <a:ahLst/>
            <a:cxnLst/>
            <a:rect l="l" t="t" r="r" b="b"/>
            <a:pathLst>
              <a:path w="1258480" h="1696907">
                <a:moveTo>
                  <a:pt x="0" y="0"/>
                </a:moveTo>
                <a:lnTo>
                  <a:pt x="1258480" y="0"/>
                </a:lnTo>
                <a:lnTo>
                  <a:pt x="1258480" y="1696907"/>
                </a:lnTo>
                <a:lnTo>
                  <a:pt x="0" y="1696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8" name="Freeform 48"/>
          <p:cNvSpPr/>
          <p:nvPr/>
        </p:nvSpPr>
        <p:spPr>
          <a:xfrm>
            <a:off x="4202234" y="200048"/>
            <a:ext cx="731505" cy="986346"/>
          </a:xfrm>
          <a:custGeom>
            <a:avLst/>
            <a:gdLst/>
            <a:ahLst/>
            <a:cxnLst/>
            <a:rect l="l" t="t" r="r" b="b"/>
            <a:pathLst>
              <a:path w="731505" h="986346">
                <a:moveTo>
                  <a:pt x="0" y="0"/>
                </a:moveTo>
                <a:lnTo>
                  <a:pt x="731504" y="0"/>
                </a:lnTo>
                <a:lnTo>
                  <a:pt x="731504" y="986345"/>
                </a:lnTo>
                <a:lnTo>
                  <a:pt x="0" y="986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9" name="Freeform 49"/>
          <p:cNvSpPr/>
          <p:nvPr/>
        </p:nvSpPr>
        <p:spPr>
          <a:xfrm>
            <a:off x="4262445" y="9047760"/>
            <a:ext cx="731505" cy="986346"/>
          </a:xfrm>
          <a:custGeom>
            <a:avLst/>
            <a:gdLst/>
            <a:ahLst/>
            <a:cxnLst/>
            <a:rect l="l" t="t" r="r" b="b"/>
            <a:pathLst>
              <a:path w="731505" h="986346">
                <a:moveTo>
                  <a:pt x="0" y="0"/>
                </a:moveTo>
                <a:lnTo>
                  <a:pt x="731505" y="0"/>
                </a:lnTo>
                <a:lnTo>
                  <a:pt x="731505" y="986345"/>
                </a:lnTo>
                <a:lnTo>
                  <a:pt x="0" y="986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0" name="Freeform 50"/>
          <p:cNvSpPr/>
          <p:nvPr/>
        </p:nvSpPr>
        <p:spPr>
          <a:xfrm>
            <a:off x="9257061" y="906544"/>
            <a:ext cx="731505" cy="986346"/>
          </a:xfrm>
          <a:custGeom>
            <a:avLst/>
            <a:gdLst/>
            <a:ahLst/>
            <a:cxnLst/>
            <a:rect l="l" t="t" r="r" b="b"/>
            <a:pathLst>
              <a:path w="731505" h="986346">
                <a:moveTo>
                  <a:pt x="0" y="0"/>
                </a:moveTo>
                <a:lnTo>
                  <a:pt x="731505" y="0"/>
                </a:lnTo>
                <a:lnTo>
                  <a:pt x="731505" y="986345"/>
                </a:lnTo>
                <a:lnTo>
                  <a:pt x="0" y="986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1" name="Freeform 51"/>
          <p:cNvSpPr/>
          <p:nvPr/>
        </p:nvSpPr>
        <p:spPr>
          <a:xfrm>
            <a:off x="17477936" y="7121401"/>
            <a:ext cx="731505" cy="986346"/>
          </a:xfrm>
          <a:custGeom>
            <a:avLst/>
            <a:gdLst/>
            <a:ahLst/>
            <a:cxnLst/>
            <a:rect l="l" t="t" r="r" b="b"/>
            <a:pathLst>
              <a:path w="731505" h="986346">
                <a:moveTo>
                  <a:pt x="0" y="0"/>
                </a:moveTo>
                <a:lnTo>
                  <a:pt x="731505" y="0"/>
                </a:lnTo>
                <a:lnTo>
                  <a:pt x="731505" y="986345"/>
                </a:lnTo>
                <a:lnTo>
                  <a:pt x="0" y="986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Freeform 52"/>
          <p:cNvSpPr/>
          <p:nvPr/>
        </p:nvSpPr>
        <p:spPr>
          <a:xfrm>
            <a:off x="870625" y="8314056"/>
            <a:ext cx="731505" cy="986346"/>
          </a:xfrm>
          <a:custGeom>
            <a:avLst/>
            <a:gdLst/>
            <a:ahLst/>
            <a:cxnLst/>
            <a:rect l="l" t="t" r="r" b="b"/>
            <a:pathLst>
              <a:path w="731505" h="986346">
                <a:moveTo>
                  <a:pt x="0" y="0"/>
                </a:moveTo>
                <a:lnTo>
                  <a:pt x="731505" y="0"/>
                </a:lnTo>
                <a:lnTo>
                  <a:pt x="731505" y="986345"/>
                </a:lnTo>
                <a:lnTo>
                  <a:pt x="0" y="9863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3" name="Freeform 53"/>
          <p:cNvSpPr/>
          <p:nvPr/>
        </p:nvSpPr>
        <p:spPr>
          <a:xfrm>
            <a:off x="12138864" y="976095"/>
            <a:ext cx="731505" cy="986346"/>
          </a:xfrm>
          <a:custGeom>
            <a:avLst/>
            <a:gdLst/>
            <a:ahLst/>
            <a:cxnLst/>
            <a:rect l="l" t="t" r="r" b="b"/>
            <a:pathLst>
              <a:path w="731505" h="986346">
                <a:moveTo>
                  <a:pt x="0" y="0"/>
                </a:moveTo>
                <a:lnTo>
                  <a:pt x="731505" y="0"/>
                </a:lnTo>
                <a:lnTo>
                  <a:pt x="731505" y="986346"/>
                </a:lnTo>
                <a:lnTo>
                  <a:pt x="0" y="986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1032" y="563129"/>
            <a:ext cx="2222611" cy="2996921"/>
          </a:xfrm>
          <a:custGeom>
            <a:avLst/>
            <a:gdLst/>
            <a:ahLst/>
            <a:cxnLst/>
            <a:rect l="l" t="t" r="r" b="b"/>
            <a:pathLst>
              <a:path w="2222611" h="2996921">
                <a:moveTo>
                  <a:pt x="0" y="0"/>
                </a:moveTo>
                <a:lnTo>
                  <a:pt x="2222611" y="0"/>
                </a:lnTo>
                <a:lnTo>
                  <a:pt x="2222611" y="2996921"/>
                </a:lnTo>
                <a:lnTo>
                  <a:pt x="0" y="2996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15499262" y="625390"/>
            <a:ext cx="2222611" cy="2996921"/>
          </a:xfrm>
          <a:custGeom>
            <a:avLst/>
            <a:gdLst/>
            <a:ahLst/>
            <a:cxnLst/>
            <a:rect l="l" t="t" r="r" b="b"/>
            <a:pathLst>
              <a:path w="2222611" h="2996921">
                <a:moveTo>
                  <a:pt x="0" y="0"/>
                </a:moveTo>
                <a:lnTo>
                  <a:pt x="2222611" y="0"/>
                </a:lnTo>
                <a:lnTo>
                  <a:pt x="2222611" y="2996921"/>
                </a:lnTo>
                <a:lnTo>
                  <a:pt x="0" y="2996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239700" y="554131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195424" y="137908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3727123" y="1020329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544634" y="1683915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828565" y="7804732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850672" y="863373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239387" y="990982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625050" y="8406081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87559" y="8451990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5379148" y="408916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045726" y="1210085"/>
            <a:ext cx="12416790" cy="82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True Cost of Human-Centric Support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763643" y="2415733"/>
            <a:ext cx="12938522" cy="497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Scaling to 10,000 clients (3,300 tickets/</a:t>
            </a:r>
            <a:r>
              <a:rPr lang="en-US" sz="280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</a:t>
            </a:r>
            <a:r>
              <a:rPr lang="en-US" sz="2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) requires 15 full-time agents.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24998" y="3448211"/>
            <a:ext cx="2704386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AYDNFLOW</a:t>
            </a:r>
            <a:endParaRPr lang="en-US" sz="3599" b="1" dirty="0">
              <a:solidFill>
                <a:srgbClr val="FFFFFF"/>
              </a:solidFill>
              <a:latin typeface="TT Fors Bold"/>
              <a:ea typeface="TT Fors Bold"/>
              <a:cs typeface="TT Fors Bold"/>
              <a:sym typeface="TT Fors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3483850"/>
            <a:ext cx="800385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Human-Centric Customer Service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5897846"/>
            <a:ext cx="5382101" cy="1775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$53,000 USD</a:t>
            </a:r>
            <a:r>
              <a:rPr lang="en-US" sz="2499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/ year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 dirty="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$12k Upfront</a:t>
            </a:r>
            <a:r>
              <a:rPr lang="en-US" sz="2499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(</a:t>
            </a:r>
            <a:r>
              <a:rPr lang="en-US" sz="2499" dirty="0" err="1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CapEx</a:t>
            </a:r>
            <a:r>
              <a:rPr lang="en-US" sz="2499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High churn, hiring hustle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0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Delayed off-hour response times.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3107" y="4175552"/>
            <a:ext cx="3282077" cy="511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15 Full-Time Agents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21771" y="4184470"/>
            <a:ext cx="2910840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3 Human Agents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3 QA managers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32845" y="5414611"/>
            <a:ext cx="7755155" cy="2305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b="1" dirty="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Enterprise solution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Starts at </a:t>
            </a:r>
            <a:r>
              <a:rPr lang="en-US" sz="2499" b="1" dirty="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$8,000 USD</a:t>
            </a:r>
            <a:r>
              <a:rPr lang="en-US" sz="2499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/ year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ar-EG" sz="2499" b="1" dirty="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20%</a:t>
            </a:r>
            <a:r>
              <a:rPr lang="en-US" sz="2499" b="1" dirty="0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 </a:t>
            </a:r>
            <a:r>
              <a:rPr lang="en-US" sz="2499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Upfront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Zero hiring hustle. Instant 24/7 response.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Humans only handle high-value escalations.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0" y="7914145"/>
            <a:ext cx="18288000" cy="88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Save </a:t>
            </a:r>
            <a:r>
              <a:rPr lang="en-US" sz="3199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$35,000</a:t>
            </a:r>
            <a:r>
              <a:rPr lang="en-US" sz="3199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 annually, eliminate 80% of hiring overhead, and achieve 100% uptime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(Not ready for an Enterprise deployment? Scale at your own pace with our standard </a:t>
            </a:r>
            <a:r>
              <a:rPr lang="en-US" sz="1900" b="1">
                <a:solidFill>
                  <a:srgbClr val="FFFFFF"/>
                </a:solidFill>
                <a:latin typeface="TT Fors Bold"/>
                <a:ea typeface="TT Fors Bold"/>
                <a:cs typeface="TT Fors Bold"/>
                <a:sym typeface="TT Fors Bold"/>
              </a:rPr>
              <a:t>SaaS </a:t>
            </a:r>
            <a:r>
              <a:rPr lang="en-US" sz="1900">
                <a:solidFill>
                  <a:srgbClr val="FFFFFF"/>
                </a:solidFill>
                <a:latin typeface="TT Fors"/>
                <a:ea typeface="TT Fors"/>
                <a:cs typeface="TT Fors"/>
                <a:sym typeface="TT Fors"/>
              </a:rPr>
              <a:t>tiers).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6127" y="590601"/>
            <a:ext cx="17155746" cy="9105799"/>
            <a:chOff x="0" y="0"/>
            <a:chExt cx="4518386" cy="2398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8386" cy="2398235"/>
            </a:xfrm>
            <a:custGeom>
              <a:avLst/>
              <a:gdLst/>
              <a:ahLst/>
              <a:cxnLst/>
              <a:rect l="l" t="t" r="r" b="b"/>
              <a:pathLst>
                <a:path w="4518386" h="2398235">
                  <a:moveTo>
                    <a:pt x="17148" y="0"/>
                  </a:moveTo>
                  <a:lnTo>
                    <a:pt x="4501238" y="0"/>
                  </a:lnTo>
                  <a:cubicBezTo>
                    <a:pt x="4505785" y="0"/>
                    <a:pt x="4510147" y="1807"/>
                    <a:pt x="4513363" y="5023"/>
                  </a:cubicBezTo>
                  <a:cubicBezTo>
                    <a:pt x="4516579" y="8239"/>
                    <a:pt x="4518386" y="12600"/>
                    <a:pt x="4518386" y="17148"/>
                  </a:cubicBezTo>
                  <a:lnTo>
                    <a:pt x="4518386" y="2381087"/>
                  </a:lnTo>
                  <a:cubicBezTo>
                    <a:pt x="4518386" y="2385635"/>
                    <a:pt x="4516579" y="2389996"/>
                    <a:pt x="4513363" y="2393212"/>
                  </a:cubicBezTo>
                  <a:cubicBezTo>
                    <a:pt x="4510147" y="2396428"/>
                    <a:pt x="4505785" y="2398235"/>
                    <a:pt x="4501238" y="2398235"/>
                  </a:cubicBezTo>
                  <a:lnTo>
                    <a:pt x="17148" y="2398235"/>
                  </a:lnTo>
                  <a:cubicBezTo>
                    <a:pt x="12600" y="2398235"/>
                    <a:pt x="8239" y="2396428"/>
                    <a:pt x="5023" y="2393212"/>
                  </a:cubicBezTo>
                  <a:cubicBezTo>
                    <a:pt x="1807" y="2389996"/>
                    <a:pt x="0" y="2385635"/>
                    <a:pt x="0" y="2381087"/>
                  </a:cubicBezTo>
                  <a:lnTo>
                    <a:pt x="0" y="17148"/>
                  </a:lnTo>
                  <a:cubicBezTo>
                    <a:pt x="0" y="12600"/>
                    <a:pt x="1807" y="8239"/>
                    <a:pt x="5023" y="5023"/>
                  </a:cubicBezTo>
                  <a:cubicBezTo>
                    <a:pt x="8239" y="1807"/>
                    <a:pt x="12600" y="0"/>
                    <a:pt x="17148" y="0"/>
                  </a:cubicBezTo>
                  <a:close/>
                </a:path>
              </a:pathLst>
            </a:custGeom>
            <a:solidFill>
              <a:srgbClr val="000000"/>
            </a:solidFill>
            <a:ln w="66675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518386" cy="2436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41032" y="563129"/>
            <a:ext cx="2222611" cy="2996921"/>
          </a:xfrm>
          <a:custGeom>
            <a:avLst/>
            <a:gdLst/>
            <a:ahLst/>
            <a:cxnLst/>
            <a:rect l="l" t="t" r="r" b="b"/>
            <a:pathLst>
              <a:path w="2222611" h="2996921">
                <a:moveTo>
                  <a:pt x="0" y="0"/>
                </a:moveTo>
                <a:lnTo>
                  <a:pt x="2222611" y="0"/>
                </a:lnTo>
                <a:lnTo>
                  <a:pt x="2222611" y="2996921"/>
                </a:lnTo>
                <a:lnTo>
                  <a:pt x="0" y="2996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15499262" y="625390"/>
            <a:ext cx="2222611" cy="2996921"/>
          </a:xfrm>
          <a:custGeom>
            <a:avLst/>
            <a:gdLst/>
            <a:ahLst/>
            <a:cxnLst/>
            <a:rect l="l" t="t" r="r" b="b"/>
            <a:pathLst>
              <a:path w="2222611" h="2996921">
                <a:moveTo>
                  <a:pt x="0" y="0"/>
                </a:moveTo>
                <a:lnTo>
                  <a:pt x="2222611" y="0"/>
                </a:lnTo>
                <a:lnTo>
                  <a:pt x="2222611" y="2996921"/>
                </a:lnTo>
                <a:lnTo>
                  <a:pt x="0" y="29969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239700" y="554131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195424" y="137908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727123" y="1020329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544634" y="1683915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3265186" y="309288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850672" y="8633737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3239387" y="990982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625050" y="8406081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787559" y="8451990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1" y="0"/>
                </a:lnTo>
                <a:lnTo>
                  <a:pt x="452141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5379148" y="4089163"/>
            <a:ext cx="452141" cy="609657"/>
          </a:xfrm>
          <a:custGeom>
            <a:avLst/>
            <a:gdLst/>
            <a:ahLst/>
            <a:cxnLst/>
            <a:rect l="l" t="t" r="r" b="b"/>
            <a:pathLst>
              <a:path w="452141" h="609657">
                <a:moveTo>
                  <a:pt x="0" y="0"/>
                </a:moveTo>
                <a:lnTo>
                  <a:pt x="452140" y="0"/>
                </a:lnTo>
                <a:lnTo>
                  <a:pt x="452140" y="609657"/>
                </a:lnTo>
                <a:lnTo>
                  <a:pt x="0" y="6096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558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795475" y="1306771"/>
            <a:ext cx="214431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Brought to you by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49553" y="1458536"/>
            <a:ext cx="6388894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88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AYDNLABS</a:t>
            </a:r>
            <a:endParaRPr lang="en-US" sz="920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1206279" y="5484167"/>
            <a:ext cx="6515594" cy="269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Become the leading company in this Arab technological breakthrough, helping the Arab world build its own intelligent software stack with full control, localization, and long-term independence.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4641670"/>
            <a:ext cx="7402192" cy="2277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Goal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Our mission is to develop homegrown,            MENA-focused technology solutions that give organizations more control, stronger localization, and no dependence on external systems.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54337" y="3169772"/>
            <a:ext cx="14379327" cy="828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b="1">
                <a:solidFill>
                  <a:srgbClr val="FFFFFF">
                    <a:alpha val="87843"/>
                  </a:srgbClr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Building MENA region AI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537</Words>
  <Application>Microsoft Office PowerPoint</Application>
  <PresentationFormat>Custom</PresentationFormat>
  <Paragraphs>90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Wide</vt:lpstr>
      <vt:lpstr>Poppins Bold</vt:lpstr>
      <vt:lpstr>HK Grotesk</vt:lpstr>
      <vt:lpstr>Calibri</vt:lpstr>
      <vt:lpstr>Canva Sans</vt:lpstr>
      <vt:lpstr>Canva Sans Bold</vt:lpstr>
      <vt:lpstr>TT Fors</vt:lpstr>
      <vt:lpstr>Inter</vt:lpstr>
      <vt:lpstr>TT Fors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AYDNFLOW</dc:title>
  <cp:lastModifiedBy>abdulrahmanhisham</cp:lastModifiedBy>
  <cp:revision>2</cp:revision>
  <dcterms:created xsi:type="dcterms:W3CDTF">2006-08-16T00:00:00Z</dcterms:created>
  <dcterms:modified xsi:type="dcterms:W3CDTF">2026-09-14T11:39:05Z</dcterms:modified>
  <dc:identifier>DAHRQTn2zao</dc:identifier>
</cp:coreProperties>
</file>